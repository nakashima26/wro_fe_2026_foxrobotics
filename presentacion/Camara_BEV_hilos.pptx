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diciendo para qué es la reunión: no es un demo del carro, es para que vean</a:t>
            </a:r>
          </a:p>
          <a:p>
            <a:r>
              <a:t>la cadena de la cámara y digan si el siguiente paso (enderezar el lente antes de</a:t>
            </a:r>
          </a:p>
          <a:p>
            <a:r>
              <a:t>la homografía) vale la pena.</a:t>
            </a:r>
          </a:p>
          <a:p/>
          <a:p>
            <a:r>
              <a:t>Dejar claro desde el principio: lo que corre hoy es la homografía sola. El commit</a:t>
            </a:r>
          </a:p>
          <a:p>
            <a:r>
              <a:t>de distorsión existe, se revirtió, y lo vamos a tratar como propuesta.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diapositiva es el mapa de toda la presentación. Si se acaba el tiempo,</a:t>
            </a:r>
          </a:p>
          <a:p>
            <a:r>
              <a:t>con esto basta.</a:t>
            </a:r>
          </a:p>
          <a:p/>
          <a:p>
            <a:r>
              <a:t>1. La optimización no es “más hilos de visión”. Es un solo pipeline, y los hilos</a:t>
            </a:r>
          </a:p>
          <a:p>
            <a:r>
              <a:t>   existen para que la entrada/salida no lo frene.</a:t>
            </a:r>
          </a:p>
          <a:p>
            <a:r>
              <a:t>2. Bird's eye view = homografía del plano del suelo.</a:t>
            </a:r>
          </a:p>
          <a:p>
            <a:r>
              <a:t>3. El límite de esa homografía es el lente.</a:t>
            </a:r>
          </a:p>
          <a:p>
            <a:r>
              <a:t>4. El commit f30328f hace lo correcto, pero no está en el binario que corre.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hay un pipeline de visión partido en etapas paralelas. Hay un hilo que piensa</a:t>
            </a:r>
          </a:p>
          <a:p>
            <a:r>
              <a:t>y cuatro que mueven datos.</a:t>
            </a:r>
          </a:p>
          <a:p/>
          <a:p>
            <a:r>
              <a:t>OpenCV además tiene un pool interno de hasta 4 hilos (setNumThreads). Esos no son</a:t>
            </a:r>
          </a:p>
          <a:p>
            <a:r>
              <a:t>etapas del algoritmo: paralelizan operaciones de OpenCV dentro del hilo principal.</a:t>
            </a:r>
          </a:p>
          <a:p>
            <a:r>
              <a:t>En una Pi de 4 núcleos compiten con el loop, así que el tope está en 4 a propósito.</a:t>
            </a:r>
          </a:p>
          <a:p/>
          <a:p>
            <a:r>
              <a:t>El video y el BEV limpio solo existen mientras se graba. En competencia, si no</a:t>
            </a:r>
          </a:p>
          <a:p>
            <a:r>
              <a:t>se graba, son tres hilos: principal, captura y serial.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punto de optimización que más importa explicar.</a:t>
            </a:r>
          </a:p>
          <a:p/>
          <a:p>
            <a:r>
              <a:t>Sin el hilo, cada vuelta del control esperaría al driver de la cámara. Con el hilo,</a:t>
            </a:r>
          </a:p>
          <a:p>
            <a:r>
              <a:t>el control trabaja con lo más reciente que ya llegó.</a:t>
            </a:r>
          </a:p>
          <a:p/>
          <a:p>
            <a:r>
              <a:t>El bug real que ya vimos: ThreadedFrameGrabber.read() devuelve el último frame</a:t>
            </a:r>
          </a:p>
          <a:p>
            <a:r>
              <a:t>aunque la cámara haya dejado de mandar. El carro seguiría “viendo” una foto vieja</a:t>
            </a:r>
          </a:p>
          <a:p>
            <a:r>
              <a:t>con el LED de listo encendido. Por eso freshness() expone frame_id y la edad del</a:t>
            </a:r>
          </a:p>
          <a:p>
            <a:r>
              <a:t>frame. Antes de arrancar, y mientras se espera el botón, si no hay frames nuevos</a:t>
            </a:r>
          </a:p>
          <a:p>
            <a:r>
              <a:t>o llegan negros, se reabre la cámara. Ya en marcha no se reabre: reabrir a media</a:t>
            </a:r>
          </a:p>
          <a:p>
            <a:r>
              <a:t>vuelta es peor.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Orden real en process_frame:</a:t>
            </a:r>
          </a:p>
          <a:p/>
          <a:p>
            <a:r>
              <a:t>1. Corrección de color por el piso, antes de cualquier HSV.</a:t>
            </a:r>
          </a:p>
          <a:p>
            <a:r>
              <a:t>2. Volteo horizontal y detección de rojo y verde.</a:t>
            </a:r>
          </a:p>
          <a:p>
            <a:r>
              <a:t>3. Si hay bev_calib.npz, warpPerspective a 400×400.</a:t>
            </a:r>
          </a:p>
          <a:p>
            <a:r>
              <a:t>4. El centro-abajo de cada rectángulo (el punto que toca el suelo) se proyecta</a:t>
            </a:r>
          </a:p>
          <a:p>
            <a:r>
              <a:t>   con la misma matriz.</a:t>
            </a:r>
          </a:p>
          <a:p>
            <a:r>
              <a:t>5. Memoria de obstáculos, cinta naranja de la esquina, centerline.</a:t>
            </a:r>
          </a:p>
          <a:p>
            <a:r>
              <a:t>6. Se arma el mensaje serial y, si el carro está armado, se manda.</a:t>
            </a:r>
          </a:p>
          <a:p/>
          <a:p>
            <a:r>
              <a:t>El descarte de 2 de cada 3 frames es la forma barata de bajar carga sin bajar</a:t>
            </a:r>
          </a:p>
          <a:p>
            <a:r>
              <a:t>la resolución. La captura sigue a 30 fps; el pensamiento va a ~10.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Estos son los cortes que ya están en el código, no ideas.</a:t>
            </a:r>
          </a:p>
          <a:p/>
          <a:p>
            <a:r>
              <a:t>La cámara entra por libcamera a resolución del sensor y el propio pipeline de</a:t>
            </a:r>
          </a:p>
          <a:p>
            <a:r>
              <a:t>GStreamer escala. Python nunca ve 1640×1232.</a:t>
            </a:r>
          </a:p>
          <a:p/>
          <a:p>
            <a:r>
              <a:t>La corrección de color mide el tapete en la franja de abajo, cada 5 frames y</a:t>
            </a:r>
          </a:p>
          <a:p>
            <a:r>
              <a:t>sobre 1 de cada 4 píxeles, y aplica una LUT. El balance de blancos de la cámara</a:t>
            </a:r>
          </a:p>
          <a:p>
            <a:r>
              <a:t>va apagado a propósito, con ganancias fijas, para que el color no cambie solo</a:t>
            </a:r>
          </a:p>
          <a:p>
            <a:r>
              <a:t>entre sedes. Esta tabla es el reemplazo.</a:t>
            </a:r>
          </a:p>
          <a:p/>
          <a:p>
            <a:r>
              <a:t>El HUD (hstack de cámara y BEV, textos, resize) se saltaba en todos los frames</a:t>
            </a:r>
          </a:p>
          <a:p>
            <a:r>
              <a:t>y costaba unos 14 ms. Ahora los contadores se espían antes de incrementar, y</a:t>
            </a:r>
          </a:p>
          <a:p>
            <a:r>
              <a:t>solo se dibuja el frame que el video o la vista remota van a usar.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 responde “¿por qué no usan YOLO?”: en la Pi, a este tamaño, un umbral de</a:t>
            </a:r>
          </a:p>
          <a:p>
            <a:r>
              <a:t>color más filtros de forma alcanza, y el tiempo es predecible.</a:t>
            </a:r>
          </a:p>
          <a:p/>
          <a:p>
            <a:r>
              <a:t>Los filtros que importan, medidos en videos de corridas reales:</a:t>
            </a:r>
          </a:p>
          <a:p>
            <a:r>
              <a:t>- Solidez: área del contorno entre área del rectángulo. La lata anda en 0.7–0.9.</a:t>
            </a:r>
          </a:p>
          <a:p>
            <a:r>
              <a:t>  Una línea suele quedar debajo.</a:t>
            </a:r>
          </a:p>
          <a:p>
            <a:r>
              <a:t>- Proporción ancho/alto. Una línea diagonal es extrema. Una lata cercana con el</a:t>
            </a:r>
          </a:p>
          <a:p>
            <a:r>
              <a:t>  lente ancho se ve alta, así que el tope no es ciego: si es compacta, se acepta.</a:t>
            </a:r>
          </a:p>
          <a:p>
            <a:r>
              <a:t>- Rojo: mediana de B/R por debajo de 0.42 y de G/R por debajo de 0.28.</a:t>
            </a:r>
          </a:p>
          <a:p>
            <a:r>
              <a:t>  La pared magenta tiene mucho azul. La cinta naranja tiene verde.</a:t>
            </a:r>
          </a:p>
          <a:p>
            <a:r>
              <a:t>- Verde: la mediana de saturación tiene que pasar un piso. El piso quemado y el</a:t>
            </a:r>
          </a:p>
          <a:p>
            <a:r>
              <a:t>  celeste caen en el rango de tono pero están lavados.</a:t>
            </a:r>
          </a:p>
          <a:p/>
          <a:p>
            <a:r>
              <a:t>El umbral de área tira manchas chicas antes de mirar la 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cámara mira el piso en perspectiva. Para manejar hace falta metros, no píxeles</a:t>
            </a:r>
          </a:p>
          <a:p>
            <a:r>
              <a:t>de imagen.</a:t>
            </a:r>
          </a:p>
          <a:p/>
          <a:p>
            <a:r>
              <a:t>Una homografía es la transformación exacta entre dos vistas de un mismo plano.</a:t>
            </a:r>
          </a:p>
          <a:p>
            <a:r>
              <a:t>El piso es un plano, así que una matriz 3×3 alcanza: manda cada píxel del suelo</a:t>
            </a:r>
          </a:p>
          <a:p>
            <a:r>
              <a:t>en la foto a un píxel del mapa de arriba.</a:t>
            </a:r>
          </a:p>
          <a:p/>
          <a:p>
            <a:r>
              <a:t>No se estima en cada frame. Se carga de bev_calib.npz. Si el archivo no existe,</a:t>
            </a:r>
          </a:p>
          <a:p>
            <a:r>
              <a:t>el runtime no tiene BEV y cae al control de respaldo.</a:t>
            </a:r>
          </a:p>
          <a:p/>
          <a:p>
            <a:r>
              <a:t>El robot no se mueve dentro de la imagen. El mundo se mueve respecto a él.</a:t>
            </a:r>
          </a:p>
          <a:p>
            <a:r>
              <a:t>Por eso la memoria de latas tiene que desplazar los conos con el movimiento</a:t>
            </a:r>
          </a:p>
          <a:p>
            <a:r>
              <a:t>del carro, no al revés.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CALIB_REAL_MM en config.py. Eje delantero del robot como origen.</a:t>
            </a:r>
          </a:p>
          <a:p>
            <a:r>
              <a:t>x positivo = derecha. y = adelante.</a:t>
            </a:r>
          </a:p>
          <a:p/>
          <a:p>
            <a:r>
              <a:t>Orden de clic: cerca izquierda, centro, derecha; luego la fila media; luego la lejana.</a:t>
            </a:r>
          </a:p>
          <a:p>
            <a:r>
              <a:t>Cerca es ±80 mm a 80 mm. Media ±150 a 300. Lejos ±220 a 550.</a:t>
            </a:r>
          </a:p>
          <a:p/>
          <a:p>
            <a:r>
              <a:t>findHomography escribe H y H inversa. El error de reproyección es qué tan bien</a:t>
            </a:r>
          </a:p>
          <a:p>
            <a:r>
              <a:t>esa matriz explica los mismos clics, en píxeles del BEV.</a:t>
            </a:r>
          </a:p>
          <a:p/>
          <a:p>
            <a:r>
              <a:t>Hoy, con más de 4 puntos, el código usa RANSAC. El commit de distorsión lo cambia</a:t>
            </a:r>
          </a:p>
          <a:p>
            <a:r>
              <a:t>a mínimos cuadrados: RANSAC puede descartar el punto lejano, que es el más</a:t>
            </a:r>
          </a:p>
          <a:p>
            <a:r>
              <a:t>importante, y aquí todos los clics son buenos a propósito.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regla WRO está en el sesgo de la ruta: el rojo se pasa por la derecha, así que</a:t>
            </a:r>
          </a:p>
          <a:p>
            <a:r>
              <a:t>el camino se abre a la derecha del bloque. El verde, por la izquierda.</a:t>
            </a:r>
          </a:p>
          <a:p/>
          <a:p>
            <a:r>
              <a:t>El peso de ese empuje no es un switch. Rampa con la distancia a la lata: lejos,</a:t>
            </a:r>
          </a:p>
          <a:p>
            <a:r>
              <a:t>el camino sigue cerca del centro del hueco; cerca, se compromete con el lado de paso.</a:t>
            </a:r>
          </a:p>
          <a:p/>
          <a:p>
            <a:r>
              <a:t>La naranja no es solo “hay esquina”. Clasifica cada cono como mío o de la recta</a:t>
            </a:r>
          </a:p>
          <a:p>
            <a:r>
              <a:t>de adelante. Sin eso, la ruta intenta satisfacer dos lados de paso a la vez y el</a:t>
            </a:r>
          </a:p>
          <a:p>
            <a:r>
              <a:t>volante oscila.</a:t>
            </a:r>
          </a:p>
          <a:p/>
          <a:p>
            <a:r>
              <a:t>Solo el pie del cono entra al mapa. El cuerpo tiene altura y la homografía no lo</a:t>
            </a:r>
          </a:p>
          <a:p>
            <a:r>
              <a:t>describe. Eso va en la siguiente lámina.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 límite, altura. Un punto que no está en el piso no tiene una posición</a:t>
            </a:r>
          </a:p>
          <a:p>
            <a:r>
              <a:t>métrica bajo esta matriz. Por eso map_obstacle_to_bev usa el centro inferior del</a:t>
            </a:r>
          </a:p>
          <a:p>
            <a:r>
              <a:t>bounding box. Un cono que está doblando la esquina puede proyectar con una Y</a:t>
            </a:r>
          </a:p>
          <a:p>
            <a:r>
              <a:t>mayor (falso “más cerca”) que el cono que el carro tiene enfrente. El lock de</a:t>
            </a:r>
          </a:p>
          <a:p>
            <a:r>
              <a:t>obstáculo no confía en esa Y: usa el alto del rectángulo en la imagen de cámara,</a:t>
            </a:r>
          </a:p>
          <a:p>
            <a:r>
              <a:t>que sí crece cuando el cono está cerca.</a:t>
            </a:r>
          </a:p>
          <a:p/>
          <a:p>
            <a:r>
              <a:t>Segundo límite, distorsión. La homografía es el modelo de una cámara pinhole.</a:t>
            </a:r>
          </a:p>
          <a:p>
            <a:r>
              <a:t>Un lente real aplica una curva radial antes. Dentro de la zona de los nueve</a:t>
            </a:r>
          </a:p>
          <a:p>
            <a:r>
              <a:t>puntos, con un lente moderado, la matriz absorbe parte. En los bordes y en la</a:t>
            </a:r>
          </a:p>
          <a:p>
            <a:r>
              <a:t>fila lejana, no.</a:t>
            </a:r>
          </a:p>
          <a:p/>
          <a:p>
            <a:r>
              <a:t>En config.py está anotado el caso: se probó leer el sentido del giro por la</a:t>
            </a:r>
          </a:p>
          <a:p>
            <a:r>
              <a:t>pendiente de la naranja y falló lejos, porque esa pendiente seguía a la distancia,</a:t>
            </a:r>
          </a:p>
          <a:p>
            <a:r>
              <a:t>no al lado hacia el que dobla la pista. El comentario lo llama distorsión del</a:t>
            </a:r>
          </a:p>
          <a:p>
            <a:r>
              <a:t>BEV en campo lejano.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Veredicto para los maestros: no es un experimento raro. Es el orden que usa</a:t>
            </a:r>
          </a:p>
          <a:p>
            <a:r>
              <a:t>cualquier inversa de perspectiva en serio. Una homografía no puede representar</a:t>
            </a:r>
          </a:p>
          <a:p>
            <a:r>
              <a:t>distorsión radial. Enderezar y luego estimar H es el modelo bien puesto.</a:t>
            </a:r>
          </a:p>
          <a:p/>
          <a:p>
            <a:r>
              <a:t>Por qué no está activo: el commit se aplicó, se revirtió, se volvió a aplicar y</a:t>
            </a:r>
          </a:p>
          <a:p>
            <a:r>
              <a:t>se volvió a revertir. El bev.py de hoy carga H y hace warpPerspective, sin remap.</a:t>
            </a:r>
          </a:p>
          <a:p/>
          <a:p>
            <a:r>
              <a:t>No hay que reactivarlo “por si acaso”. La H actual se ajustó sobre la imagen</a:t>
            </a:r>
          </a:p>
          <a:p>
            <a:r>
              <a:t>curva. Ponerle encima una K nueva, sin rehacer los clics, empeora el mapa.</a:t>
            </a:r>
          </a:p>
          <a:p>
            <a:r>
              <a:t>El propio commit se niega a mezclarlas.</a:t>
            </a:r>
          </a:p>
          <a:p/>
          <a:p>
            <a:r>
              <a:t>La ganancia depende del lente. El encabezado de config dice Pi Camera v2, campo</a:t>
            </a:r>
          </a:p>
          <a:p>
            <a:r>
              <a:t>cerca de 62°. En vision.py hay un comentario de lente de 120°. Con el de serie</a:t>
            </a:r>
          </a:p>
          <a:p>
            <a:r>
              <a:t>el barril es moderado y los nueve puntos ya absorben bastante. Con un lente ancho,</a:t>
            </a:r>
          </a:p>
          <a:p>
            <a:r>
              <a:t>el error de la fila de 550 mm es exactamente lo que este commit ataca.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Detalle que conviene poder defender:</a:t>
            </a:r>
          </a:p>
          <a:p/>
          <a:p>
            <a:r>
              <a:t>El remap no se recalcula. initUndistortRectifyMap arma dos tablas una vez;</a:t>
            </a:r>
          </a:p>
          <a:p>
            <a:r>
              <a:t>cada frame es cv2.remap. Eso es lo barato.</a:t>
            </a:r>
          </a:p>
          <a:p/>
          <a:p>
            <a:r>
              <a:t>Los puntos y la imagen tienen que vivir en el mismo espacio. Si el warp endereza</a:t>
            </a:r>
          </a:p>
          <a:p>
            <a:r>
              <a:t>el frame pero el pie del cono entra crudo a H, la lata cae en otro lugar que el</a:t>
            </a:r>
          </a:p>
          <a:p>
            <a:r>
              <a:t>pixel que se ve. El commit pasa el punto por undistortPoints antes de H.</a:t>
            </a:r>
          </a:p>
          <a:p/>
          <a:p>
            <a:r>
              <a:t>Si existe el npz de intrínsecos pero la homografía se hizo sin enderezar, no</a:t>
            </a:r>
          </a:p>
          <a:p>
            <a:r>
              <a:t>aplica el remap y lo imprime. Al revés también avisa: H espera undistort y no</a:t>
            </a:r>
          </a:p>
          <a:p>
            <a:r>
              <a:t>hay K.</a:t>
            </a:r>
          </a:p>
          <a:p/>
          <a:p>
            <a:r>
              <a:t>Cambió además el ajuste de los nueve clics de RANSAC a mínimos cuadrados, para</a:t>
            </a:r>
          </a:p>
          <a:p>
            <a:r>
              <a:t>no tirar el punto lejano.</a:t>
            </a:r>
          </a:p>
          <a:p/>
          <a:p>
            <a:r>
              <a:t>alpha = 0 en la cámara nueva recorta al rectángulo sin bordes negros. Se pierde</a:t>
            </a:r>
          </a:p>
          <a:p>
            <a:r>
              <a:t>un poco de campo en la orilla. Los clics tienen que hacerse sobre esa imagen</a:t>
            </a:r>
          </a:p>
          <a:p>
            <a:r>
              <a:t>ya recortada. El código lo hace así.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lámina es la lista de lo que no hay que saltarse. El error típico es</a:t>
            </a:r>
          </a:p>
          <a:p>
            <a:r>
              <a:t>cargar una K nueva encima de la H vieja.</a:t>
            </a:r>
          </a:p>
          <a:p/>
          <a:p>
            <a:r>
              <a:t>Escalar en GStreamer y calibrar sobre 640×480 es coherente: el aspecto</a:t>
            </a:r>
          </a:p>
          <a:p>
            <a:r>
              <a:t>1640×1232 y 640×480 casi coincide, así que no hay un estiramiento extra.</a:t>
            </a:r>
          </a:p>
          <a:p>
            <a:r>
              <a:t>Si algún día se endereza a resolución del sensor y después se escala, hay que</a:t>
            </a:r>
          </a:p>
          <a:p>
            <a:r>
              <a:t>rehacer K.</a:t>
            </a:r>
          </a:p>
          <a:p/>
          <a:p>
            <a:r>
              <a:t>Costo: en una Pi 4, un remap lineal de 640×480 son unos milisegundos, encima</a:t>
            </a:r>
          </a:p>
          <a:p>
            <a:r>
              <a:t>del warp que ya existe. Fundir los dos en una sola tabla (un remap que endereza</a:t>
            </a:r>
          </a:p>
          <a:p>
            <a:r>
              <a:t>y aplica H) deja el costo en una pasada. Es la optimización natural si los fps</a:t>
            </a:r>
          </a:p>
          <a:p>
            <a:r>
              <a:t>bajan de lo que el control necesita.</a:t>
            </a:r>
          </a:p>
          <a:p/>
          <a:p>
            <a:r>
              <a:t>El RMS del tablero no reemplaza la cuadrícula sobre el piso. Un RMS bajo con</a:t>
            </a:r>
          </a:p>
          <a:p>
            <a:r>
              <a:t>poses solo en el centro no dice nada de las orillas, que es donde vive el barril.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esto, no con más arquitectura.</a:t>
            </a:r>
          </a:p>
          <a:p/>
          <a:p>
            <a:r>
              <a:t>Lo que se les pide a los maestros no es que reescriban el pipeline. Es una</a:t>
            </a:r>
          </a:p>
          <a:p>
            <a:r>
              <a:t>medición y una decisión:</a:t>
            </a:r>
          </a:p>
          <a:p/>
          <a:p>
            <a:r>
              <a:t>1. ¿El lente es el de la Pi v2 (~62°) o el ancho? El comentario del código no</a:t>
            </a:r>
          </a:p>
          <a:p>
            <a:r>
              <a:t>   coincide con el encabezado de config. Eso cambia si el commit cambia el</a:t>
            </a:r>
          </a:p>
          <a:p>
            <a:r>
              <a:t>   comportamiento o solo lo afina.</a:t>
            </a:r>
          </a:p>
          <a:p>
            <a:r>
              <a:t>2. Número concreto: error lateral y longitudinal en P7, P8 y P9, en milímetros,</a:t>
            </a:r>
          </a:p>
          <a:p>
            <a:r>
              <a:t>   con la H de hoy. Umbral propuesto: 1–2 cm. Por debajo, la homografía actual</a:t>
            </a:r>
          </a:p>
          <a:p>
            <a:r>
              <a:t>   alcanza. Por encima, conviene el commit.</a:t>
            </a:r>
          </a:p>
          <a:p>
            <a:r>
              <a:t>3. El costo de cómputo tiene una salida clara si hace falta: un solo remap.</a:t>
            </a:r>
          </a:p>
          <a:p/>
          <a:p>
            <a:r>
              <a:t>Dejar dicho que reactivar el commit sin repetir la calibración de los nueve</a:t>
            </a:r>
          </a:p>
          <a:p>
            <a:r>
              <a:t>puntos deja el mapa peor de lo que está.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85C38"/>
                </a:solidFill>
                <a:latin typeface="Calibri"/>
              </a:rPr>
              <a:t>WRO FUTURE ENGINEERS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515600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CF8"/>
                </a:solidFill>
                <a:latin typeface="Calibri"/>
              </a:rPr>
              <a:t>Cámara, hilos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CF8"/>
                </a:solidFill>
                <a:latin typeface="Calibri"/>
              </a:rPr>
              <a:t>y vista de pájaro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9D0D8"/>
                </a:solidFill>
                <a:latin typeface="Calibri"/>
              </a:rPr>
              <a:t>Qué calcula el código en cada frame,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9D0D8"/>
                </a:solidFill>
                <a:latin typeface="Calibri"/>
              </a:rPr>
              <a:t>y el siguiente paso para corregir el lente.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E99A6"/>
                </a:solidFill>
                <a:latin typeface="Calibri"/>
              </a:rPr>
              <a:t>Revisión con maestros     ·     la corrección de distorsión no está activa hoy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5C38"/>
                </a:solidFill>
                <a:latin typeface="Calibri"/>
              </a:rPr>
              <a:t>LA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332"/>
                </a:solidFill>
                <a:latin typeface="Calibri"/>
              </a:rPr>
              <a:t>En una frase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105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774"/>
                </a:solidFill>
                <a:latin typeface="Calibri"/>
              </a:rPr>
              <a:t>02  /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11155680" cy="1115568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73152" cy="1115568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2704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C3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90472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332"/>
                </a:solidFill>
                <a:latin typeface="Calibri"/>
              </a:rPr>
              <a:t>Un hilo calcula el volante.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11095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Los demás solo sacan la cámara, el disco y el serial del camino.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69464"/>
            <a:ext cx="11155680" cy="1115568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69464"/>
            <a:ext cx="73152" cy="1115568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70632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C3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734056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332"/>
                </a:solidFill>
                <a:latin typeface="Calibri"/>
              </a:rPr>
              <a:t>El mapa de arriba no es un modelo 3D.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5468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Es una homografía: una matriz que aplana el piso.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13048"/>
            <a:ext cx="11155680" cy="1115568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813048"/>
            <a:ext cx="73152" cy="1115568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14215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C38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977639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332"/>
                </a:solidFill>
                <a:latin typeface="Calibri"/>
              </a:rPr>
              <a:t>Esa matriz supone un lente ideal.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398264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El lente real curva las rectas. Lejos, el mapa se abre.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56632"/>
            <a:ext cx="11155680" cy="1115568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056632"/>
            <a:ext cx="73152" cy="1115568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57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C38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221224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332"/>
                </a:solidFill>
                <a:latin typeface="Calibri"/>
              </a:rPr>
              <a:t>Enderezar el lente es viable.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641848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El commit está escrito. Hoy no corre: se revirtió.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5C38"/>
                </a:solidFill>
                <a:latin typeface="Calibri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332"/>
                </a:solidFill>
                <a:latin typeface="Calibri"/>
              </a:rPr>
              <a:t>Cinco hilos. Uno solo decide.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105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774"/>
                </a:solidFill>
                <a:latin typeface="Calibri"/>
              </a:rPr>
              <a:t>03  /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98448"/>
            <a:ext cx="214884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298448"/>
            <a:ext cx="196596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85C38"/>
                </a:solidFill>
                <a:latin typeface="Calibri"/>
              </a:rPr>
              <a:t>Siempre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298448"/>
            <a:ext cx="653796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>Lee el último frame, detecta, arma el BEV y manda el mensaje al ESP32.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31136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231136"/>
            <a:ext cx="214884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Captura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231136"/>
            <a:ext cx="196596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85C38"/>
                </a:solidFill>
                <a:latin typeface="Calibri"/>
              </a:rPr>
              <a:t>Siempre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231136"/>
            <a:ext cx="653796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>Lee la cámara en bucle y se queda solo con el frame más nuevo.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63824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163824"/>
            <a:ext cx="214884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Serial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163824"/>
            <a:ext cx="196596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85C38"/>
                </a:solidFill>
                <a:latin typeface="Calibri"/>
              </a:rPr>
              <a:t>Siempre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163824"/>
            <a:ext cx="653796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>Escribe el UART. La visión no espera a que salga el byte.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096512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096512"/>
            <a:ext cx="214884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Video del HUD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096512"/>
            <a:ext cx="196596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85C38"/>
                </a:solidFill>
                <a:latin typeface="Calibri"/>
              </a:rPr>
              <a:t>Solo al grabar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096512"/>
            <a:ext cx="653796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>JPEG del video de depuración. Si la cola se llena, tira el frame viejo.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029200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029200"/>
            <a:ext cx="214884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BEV limpio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5029200"/>
            <a:ext cx="196596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85C38"/>
                </a:solidFill>
                <a:latin typeface="Calibri"/>
              </a:rPr>
              <a:t>Solo al grabar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5029200"/>
            <a:ext cx="653796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>JPEG del mapa sin dibujos, para reprobar la detección después.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5C38"/>
                </a:solidFill>
                <a:latin typeface="Calibri"/>
              </a:rPr>
              <a:t>POR QUÉ UN HILO DE CÁMARA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332"/>
                </a:solidFill>
                <a:latin typeface="Calibri"/>
              </a:rPr>
              <a:t>La captura no puede frenar el cálculo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105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774"/>
                </a:solidFill>
                <a:latin typeface="Calibri"/>
              </a:rPr>
              <a:t>04  /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155680" cy="141732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640080" cy="1417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85C3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7335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332"/>
                </a:solidFill>
                <a:latin typeface="Calibri"/>
              </a:rPr>
              <a:t>El driver se puede colgar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1488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cap.read() a veces tarda, y si la cámara muere se queda bloqueado. Ese bloqueo vive en el otro hilo.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90088"/>
            <a:ext cx="11155680" cy="141732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90088"/>
            <a:ext cx="640080" cy="1417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85C38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2461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332"/>
                </a:solidFill>
                <a:latin typeface="Calibri"/>
              </a:rPr>
              <a:t>El loop siempre ve lo último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2160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El hilo de captura pisa un solo frame. El principal copia ese frame y sigue. No hay cola de imágenes viejas.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62856"/>
            <a:ext cx="11155680" cy="141732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62856"/>
            <a:ext cx="640080" cy="1417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85C38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81888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332"/>
                </a:solidFill>
                <a:latin typeface="Calibri"/>
              </a:rPr>
              <a:t>Hay que saber si el frame es nuevo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294376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Si la cámara muere, read() repetiría la misma imagen para siempre. Se guarda un número de frame y la hora.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5C38"/>
                </a:solidFill>
                <a:latin typeface="Calibri"/>
              </a:rPr>
              <a:t>EL HILO PRINCIPAL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332"/>
                </a:solidFill>
                <a:latin typeface="Calibri"/>
              </a:rPr>
              <a:t>Del frame al volante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105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774"/>
                </a:solidFill>
                <a:latin typeface="Calibri"/>
              </a:rPr>
              <a:t>05  /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691640" cy="21488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85C3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468880"/>
            <a:ext cx="1472184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332"/>
                </a:solidFill>
                <a:latin typeface="Calibri"/>
              </a:rPr>
              <a:t>Color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332"/>
                </a:solidFill>
                <a:latin typeface="Calibri"/>
              </a:rPr>
              <a:t>del piso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0552" y="2240280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85C38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1448" y="1554480"/>
            <a:ext cx="1691640" cy="21488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173736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85C3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1176" y="2468880"/>
            <a:ext cx="1472184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332"/>
                </a:solidFill>
                <a:latin typeface="Calibri"/>
              </a:rPr>
              <a:t>Conos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332"/>
                </a:solidFill>
                <a:latin typeface="Calibri"/>
              </a:rPr>
              <a:t>en HSV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240280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85C38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1554480"/>
            <a:ext cx="1691640" cy="21488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173736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85C3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468880"/>
            <a:ext cx="1472184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332"/>
                </a:solidFill>
                <a:latin typeface="Calibri"/>
              </a:rPr>
              <a:t>Warp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332"/>
                </a:solidFill>
                <a:latin typeface="Calibri"/>
              </a:rPr>
              <a:t>a BEV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7608" y="2240280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85C38"/>
                </a:solidFill>
                <a:latin typeface="Calibr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1554480"/>
            <a:ext cx="1691640" cy="21488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173736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85C38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468880"/>
            <a:ext cx="1472184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332"/>
                </a:solidFill>
                <a:latin typeface="Calibri"/>
              </a:rPr>
              <a:t>Pie del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332"/>
                </a:solidFill>
                <a:latin typeface="Calibri"/>
              </a:rPr>
              <a:t>cono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46136" y="2240280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85C38"/>
                </a:solidFill>
                <a:latin typeface="Calibr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57032" y="1554480"/>
            <a:ext cx="1691640" cy="21488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2" y="173736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85C38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468880"/>
            <a:ext cx="1472184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332"/>
                </a:solidFill>
                <a:latin typeface="Calibri"/>
              </a:rPr>
              <a:t>Ruta 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332"/>
                </a:solidFill>
                <a:latin typeface="Calibri"/>
              </a:rPr>
              <a:t>naranja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84664" y="2240280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85C38"/>
                </a:solidFill>
                <a:latin typeface="Calibr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95560" y="1554480"/>
            <a:ext cx="1691640" cy="21488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5560" y="173736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85C38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05288" y="2468880"/>
            <a:ext cx="1472184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332"/>
                </a:solidFill>
                <a:latin typeface="Calibri"/>
              </a:rPr>
              <a:t>Mensaje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332"/>
                </a:solidFill>
                <a:latin typeface="Calibri"/>
              </a:rPr>
              <a:t>al ESP32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977639"/>
            <a:ext cx="11155680" cy="1737360"/>
          </a:xfrm>
          <a:prstGeom prst="roundRect">
            <a:avLst>
              <a:gd name="adj" fmla="val 8000"/>
            </a:avLst>
          </a:prstGeom>
          <a:solidFill>
            <a:srgbClr val="F3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20624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A2332"/>
                </a:solidFill>
                <a:latin typeface="Calibri"/>
              </a:rPr>
              <a:t>Entra 1 de cada 3 frames.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75488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2332"/>
                </a:solidFill>
                <a:latin typeface="Calibri"/>
              </a:rPr>
              <a:t>La cámara entrega ~30 fps. PROCESS_EVERY = 3: el loop lee todos,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2332"/>
                </a:solidFill>
                <a:latin typeface="Calibri"/>
              </a:rPr>
              <a:t>pero solo uno pasa por esta lista. Los otros dos se tiran.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5C38"/>
                </a:solidFill>
                <a:latin typeface="Calibri"/>
              </a:rPr>
              <a:t>OPTIMIZACIÓN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332"/>
                </a:solidFill>
                <a:latin typeface="Calibri"/>
              </a:rPr>
              <a:t>Dónde se recorta el tiempo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105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774"/>
                </a:solidFill>
                <a:latin typeface="Calibri"/>
              </a:rPr>
              <a:t>06  /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C38"/>
                </a:solidFill>
                <a:latin typeface="Calibri"/>
              </a:rPr>
              <a:t>Resolución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28016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GStreamer baja 1640×1232 a 640×480 antes de Python. Buffer de un frame: no se acumula atraso.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C38"/>
                </a:solidFill>
                <a:latin typeface="Calibri"/>
              </a:rPr>
              <a:t>1 de cada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24028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El algoritmo no corre sobre los 30 fps. Corre sobre el frame que sí entra.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C38"/>
                </a:solidFill>
                <a:latin typeface="Calibri"/>
              </a:rPr>
              <a:t>Color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20040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Una tabla de 256 valores por canal. Si la luz ya es la de siempre, la ganancia sale ~1 y cuesta 0 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6052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C38"/>
                </a:solidFill>
                <a:latin typeface="Calibri"/>
              </a:rPr>
              <a:t>Un solo HSV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416052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La vista de pájaro se convierte a HSV una vez. La ruta y la línea naranja comparten esa imagen.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2064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C38"/>
                </a:solidFill>
                <a:latin typeface="Calibri"/>
              </a:rPr>
              <a:t>El dibujo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512064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Cámara + mapa + texto solo se arman si ese frame se va a mostrar o a guardar. Antes eran ~14 ms, cerca del 18 % del ciclo.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5C38"/>
                </a:solidFill>
                <a:latin typeface="Calibri"/>
              </a:rPr>
              <a:t>DETECCIÓN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332"/>
                </a:solidFill>
                <a:latin typeface="Calibri"/>
              </a:rPr>
              <a:t>Cómo se decide que algo es un cono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105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774"/>
                </a:solidFill>
                <a:latin typeface="Calibri"/>
              </a:rPr>
              <a:t>07  /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3566160" cy="416052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3566160" cy="91440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2880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A2332"/>
                </a:solidFill>
                <a:latin typeface="Calibri"/>
              </a:rPr>
              <a:t>Color, no 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17520"/>
            <a:ext cx="306324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Dos rangos HSV: rojo y verde. Contornos sobre la máscara. No hay modelo de objetos.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566160" cy="416052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91440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82880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A2332"/>
                </a:solidFill>
                <a:latin typeface="Calibri"/>
              </a:rPr>
              <a:t>Forma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017520"/>
            <a:ext cx="306324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Una lata es compacta. Una línea pintada es delgada. Se descarta por solidez y por lo alargado del rectángulo.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63040"/>
            <a:ext cx="3566160" cy="416052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63040"/>
            <a:ext cx="3566160" cy="91440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182880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A2332"/>
                </a:solidFill>
                <a:latin typeface="Calibri"/>
              </a:rPr>
              <a:t>Rojo de verdad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3017520"/>
            <a:ext cx="306324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Casi no tiene azul ni verde. La pared rosa del estacionamiento y la cinta naranja sí, y por eso no se esquivan.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5C38"/>
                </a:solidFill>
                <a:latin typeface="Calibri"/>
              </a:rPr>
              <a:t>VISTA DE PÁJARO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332"/>
                </a:solidFill>
                <a:latin typeface="Calibri"/>
              </a:rPr>
              <a:t>Una matriz aplana el piso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105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774"/>
                </a:solidFill>
                <a:latin typeface="Calibri"/>
              </a:rPr>
              <a:t>08  /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76072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332"/>
                </a:solidFill>
                <a:latin typeface="Calibri"/>
              </a:rPr>
              <a:t>400 × 400 px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73352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La imagen de salida.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68880"/>
            <a:ext cx="576072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332"/>
                </a:solidFill>
                <a:latin typeface="Calibri"/>
              </a:rPr>
              <a:t>1 px = 2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16352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El mapa cubre 800 mm.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11880"/>
            <a:ext cx="576072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332"/>
                </a:solidFill>
                <a:latin typeface="Calibri"/>
              </a:rPr>
              <a:t>Robot en (200, 380)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59352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Abajo, al centro. Siempre el mismo pixel.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54880"/>
            <a:ext cx="576072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332"/>
                </a:solidFill>
                <a:latin typeface="Calibri"/>
              </a:rPr>
              <a:t>Adelante = arriba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102352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Y de la imagen crece hacia atrás del robot.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1371600"/>
            <a:ext cx="4983480" cy="47091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1554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C6774"/>
                </a:solidFill>
                <a:latin typeface="Calibri"/>
              </a:rPr>
              <a:t>Cámara</a:t>
            </a:r>
          </a:p>
        </p:txBody>
      </p:sp>
      <p:sp>
        <p:nvSpPr>
          <p:cNvPr id="17" name="Trapezoid 16"/>
          <p:cNvSpPr/>
          <p:nvPr/>
        </p:nvSpPr>
        <p:spPr>
          <a:xfrm>
            <a:off x="7818120" y="1965960"/>
            <a:ext cx="2651760" cy="1234440"/>
          </a:xfrm>
          <a:prstGeom prst="trapezoid">
            <a:avLst/>
          </a:prstGeom>
          <a:solidFill>
            <a:srgbClr val="F3E6DC"/>
          </a:solidFill>
          <a:ln w="19050">
            <a:solidFill>
              <a:srgbClr val="B85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32461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5C38"/>
                </a:solidFill>
                <a:latin typeface="Calibri"/>
              </a:rPr>
              <a:t>H   ·   homografía 3×3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3703320"/>
            <a:ext cx="2103120" cy="1965960"/>
          </a:xfrm>
          <a:prstGeom prst="rect">
            <a:avLst/>
          </a:prstGeom>
          <a:solidFill>
            <a:srgbClr val="E5F0EA"/>
          </a:solidFill>
          <a:ln w="19050">
            <a:solidFill>
              <a:srgbClr val="1E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41605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E6B4A"/>
                </a:solidFill>
                <a:latin typeface="Calibri"/>
              </a:rPr>
              <a:t>BEV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754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6B4A"/>
                </a:solidFill>
                <a:latin typeface="Calibri"/>
              </a:rPr>
              <a:t>vista de arriba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5C38"/>
                </a:solidFill>
                <a:latin typeface="Calibri"/>
              </a:rPr>
              <a:t>CALIBRACIÓN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332"/>
                </a:solidFill>
                <a:latin typeface="Calibri"/>
              </a:rPr>
              <a:t>Nueve puntos, una sola vez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105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774"/>
                </a:solidFill>
                <a:latin typeface="Calibri"/>
              </a:rPr>
              <a:t>09  /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2332"/>
                </a:solidFill>
                <a:latin typeface="Calibri"/>
              </a:rPr>
              <a:t>Con el carro quieto se marcan nueve puntos del suelo y se hace clic en ellos, en orden.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6712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P7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32888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774"/>
                </a:solidFill>
                <a:latin typeface="Calibri"/>
              </a:rPr>
              <a:t>−220  ·  550 mm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39" y="205740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39" y="216712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P8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2532888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774"/>
                </a:solidFill>
                <a:latin typeface="Calibri"/>
              </a:rPr>
              <a:t>0  ·  550 mm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05740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6712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P9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32888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774"/>
                </a:solidFill>
                <a:latin typeface="Calibri"/>
              </a:rPr>
              <a:t>+220  ·  550 mm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9184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0156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P4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67328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774"/>
                </a:solidFill>
                <a:latin typeface="Calibri"/>
              </a:rPr>
              <a:t>−150  ·  300 mm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39" y="329184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39" y="340156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P5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39" y="3767328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774"/>
                </a:solidFill>
                <a:latin typeface="Calibri"/>
              </a:rPr>
              <a:t>0  ·  300 mm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29184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40156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P6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767328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774"/>
                </a:solidFill>
                <a:latin typeface="Calibri"/>
              </a:rPr>
              <a:t>+150  ·  300 mm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52628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63600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001768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774"/>
                </a:solidFill>
                <a:latin typeface="Calibri"/>
              </a:rPr>
              <a:t>−80  ·  80 mm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06039" y="452628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39" y="463600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P2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39" y="5001768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774"/>
                </a:solidFill>
                <a:latin typeface="Calibri"/>
              </a:rPr>
              <a:t>0  ·  80 mm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452628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63600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P3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001768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774"/>
                </a:solidFill>
                <a:latin typeface="Calibri"/>
              </a:rPr>
              <a:t>+80  ·  80 mm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2057400"/>
            <a:ext cx="4937760" cy="3703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2240280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CF8"/>
                </a:solidFill>
                <a:latin typeface="Calibri"/>
              </a:rPr>
              <a:t>Por qué no 4 puntos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2532888"/>
            <a:ext cx="4526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0D8"/>
                </a:solidFill>
                <a:latin typeface="Calibri"/>
              </a:rPr>
              <a:t>Con 4 el ajuste es exacto. Un clic malo no se nota, y fuera de ese cuadrilátero el mapa extrapola.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3355848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CF8"/>
                </a:solidFill>
                <a:latin typeface="Calibri"/>
              </a:rPr>
              <a:t>Con 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648456"/>
            <a:ext cx="4526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0D8"/>
                </a:solidFill>
                <a:latin typeface="Calibri"/>
              </a:rPr>
              <a:t>Hay redundancia. El área coincide con lo que usa la ruta, de muy cerca hasta 550 mm.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471416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CF8"/>
                </a:solidFill>
                <a:latin typeface="Calibri"/>
              </a:rPr>
              <a:t>El aviso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4764024"/>
            <a:ext cx="4526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0D8"/>
                </a:solidFill>
                <a:latin typeface="Calibri"/>
              </a:rPr>
              <a:t>Si el error medio pasa de 4 px, unos 8 mm, un clic quedó mal y conviene rehacerlo.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5C38"/>
                </a:solidFill>
                <a:latin typeface="Calibri"/>
              </a:rPr>
              <a:t>QUÉ SE HACE CON EL MAPA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332"/>
                </a:solidFill>
                <a:latin typeface="Calibri"/>
              </a:rPr>
              <a:t>Tres lecturas de la misma imagen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105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774"/>
                </a:solidFill>
                <a:latin typeface="Calibri"/>
              </a:rPr>
              <a:t>10  /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41732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31520" cy="1417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85C3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7276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332"/>
                </a:solidFill>
                <a:latin typeface="Calibri"/>
              </a:rPr>
              <a:t>Piso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29967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Máscara de color: beige, naranja, y el azul delgado. La pared azul es gruesa; una apertura morfológica se la queda y deja la cinta.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44368"/>
            <a:ext cx="11155680" cy="141732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731520" cy="1417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85C3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145536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332"/>
                </a:solidFill>
                <a:latin typeface="Calibri"/>
              </a:rPr>
              <a:t>Ruta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602735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Filas de abajo hacia arriba. En cada fila, el centro del hueco libre, empujado al lado que obliga la regla.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17136"/>
            <a:ext cx="11155680" cy="141732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17136"/>
            <a:ext cx="731520" cy="1417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85C3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718303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332"/>
                </a:solidFill>
                <a:latin typeface="Calibri"/>
              </a:rPr>
              <a:t>Esquina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175503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La cinta naranja parte los conos. Los de esta recta se esquivan. Los de la siguiente, todavía 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5C38"/>
                </a:solidFill>
                <a:latin typeface="Calibri"/>
              </a:rPr>
              <a:t>EL LÍMITE DE LA HOMOGRAFÍA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332"/>
                </a:solidFill>
                <a:latin typeface="Calibri"/>
              </a:rPr>
              <a:t>Dos cosas que la matriz no puede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105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774"/>
                </a:solidFill>
                <a:latin typeface="Calibri"/>
              </a:rPr>
              <a:t>11  /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486400" cy="461772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85C38"/>
                </a:solidFill>
                <a:latin typeface="Calibri"/>
              </a:rPr>
              <a:t>Altura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2332"/>
                </a:solidFill>
                <a:latin typeface="Calibri"/>
              </a:rPr>
              <a:t>Solo vale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2332"/>
                </a:solidFill>
                <a:latin typeface="Calibri"/>
              </a:rPr>
              <a:t>en el suelo.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4937760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>El cuerpo del cono se deforma. Se proyecta el pie del rectángulo, el punto que toca el piso.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>Junto a la esquina, la Y del mapa miente. Para elegir la lata se usa el alto del rectángulo en la cámara.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486400" cy="461772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85C38"/>
                </a:solidFill>
                <a:latin typeface="Calibri"/>
              </a:rPr>
              <a:t>Lente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2332"/>
                </a:solidFill>
                <a:latin typeface="Calibri"/>
              </a:rPr>
              <a:t>Supone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2332"/>
                </a:solidFill>
                <a:latin typeface="Calibri"/>
              </a:rPr>
              <a:t>rayos rectos.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657600"/>
            <a:ext cx="4937760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>El barril no cabe en una matriz 3×3. Cerca del robot el mapa aguanta. A 550 mm y en los bordes, se abre.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>Ese error ya se vio: la pendiente de la naranja lejos no sirvió para el sentido del giro.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5C38"/>
                </a:solidFill>
                <a:latin typeface="Calibri"/>
              </a:rPr>
              <a:t>SIGUIENTE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332"/>
                </a:solidFill>
                <a:latin typeface="Calibri"/>
              </a:rPr>
              <a:t>Enderezar el lente sí es viable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105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774"/>
                </a:solidFill>
                <a:latin typeface="Calibri"/>
              </a:rPr>
              <a:t>12  /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554480"/>
          </a:xfrm>
          <a:prstGeom prst="roundRect">
            <a:avLst>
              <a:gd name="adj" fmla="val 8000"/>
            </a:avLst>
          </a:prstGeom>
          <a:solidFill>
            <a:srgbClr val="E5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6B4A"/>
                </a:solidFill>
                <a:latin typeface="Calibri"/>
              </a:rPr>
              <a:t>El enfoque del commit es el correcto.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2332"/>
                </a:solidFill>
                <a:latin typeface="Calibri"/>
              </a:rPr>
              <a:t>Primero se quita la curva del lente. Después se calcula la homografía sobre la imagen ya recta.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00400"/>
            <a:ext cx="3566160" cy="26060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Qué 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77639"/>
            <a:ext cx="310896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>Calibración clásica de intrínsecos: matriz K y coeficientes de distorsión, con un tablero.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200400"/>
            <a:ext cx="3566160" cy="26060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4290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Dónde está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977639"/>
            <a:ext cx="310896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>Commit f30328f, del 21 de septiembre. Se revirtió dos veces. No está en el código que corre.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200400"/>
            <a:ext cx="3566160" cy="26060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4290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Cuándo vale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977639"/>
            <a:ext cx="310896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>Si el error a 550 mm, o en los bordes de ±220 mm, pasa de uno o dos centímetros.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5C38"/>
                </a:solidFill>
                <a:latin typeface="Calibri"/>
              </a:rPr>
              <a:t>EL COMMIT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332"/>
                </a:solidFill>
                <a:latin typeface="Calibri"/>
              </a:rPr>
              <a:t>Qué hace, en orden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105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774"/>
                </a:solidFill>
                <a:latin typeface="Calibri"/>
              </a:rPr>
              <a:t>13  /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502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85C3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61872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Tablero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09343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>Unos ocho encuadres o más: cerca, lejos, bordes, inclinado. Calcula K y la distorsión. Guarda cam_intrinsics.npz.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502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85C38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Otra vez los nueve clics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16352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>La homografía se ajusta sobre la imagen ya enderezada. La H de hoy no sirve. El archivo marca undistort_used.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75888"/>
            <a:ext cx="502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85C38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675888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En carrera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>El mapa de enderezado se construye una vez. Cada frame es un remap y después el warp de siempre. El pie del cono pasa por el mismo espacio.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82896"/>
            <a:ext cx="502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85C38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82896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2332"/>
                </a:solidFill>
                <a:latin typeface="Calibri"/>
              </a:rPr>
              <a:t>La prueba visual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230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>Dibuja una cuadrícula métrica del piso sobre la cámara. Si no cae en las juntas reales, H está mal aunque el error de los clics sea bajo.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5C38"/>
                </a:solidFill>
                <a:latin typeface="Calibri"/>
              </a:rPr>
              <a:t>CONDICIONES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332"/>
                </a:solidFill>
                <a:latin typeface="Calibri"/>
              </a:rPr>
              <a:t>Para que sirva, y no empeore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105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774"/>
                </a:solidFill>
                <a:latin typeface="Calibri"/>
              </a:rPr>
              <a:t>14  /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332"/>
                </a:solidFill>
                <a:latin typeface="Calibri"/>
              </a:rPr>
              <a:t>Recalibrar las 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261872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Primero el tablero, con la cámara ya montada. Después los nueve puntos. La H actual no se reutiliza.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21991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332"/>
                </a:solidFill>
                <a:latin typeface="Calibri"/>
              </a:rPr>
              <a:t>La misma resolución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221991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El tablero se calibra en el 640×480 de la carrera. Los coeficientes están en píxeles de esa imagen.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82111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332"/>
                </a:solidFill>
                <a:latin typeface="Calibri"/>
              </a:rPr>
              <a:t>Mirar el tiempo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182111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Es un remap extra por frame procesado. Si aprieta el ciclo, se funden enderezado y homografía en un solo mapa.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42231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332"/>
                </a:solidFill>
                <a:latin typeface="Calibri"/>
              </a:rPr>
              <a:t>Mirar el 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4142231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Por debajo de 1 px es usable. Por debajo de 0.5 px está bien. Si el tablero no sale en los bordes, faltan poses.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02351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2332"/>
                </a:solidFill>
                <a:latin typeface="Calibri"/>
              </a:rPr>
              <a:t>No promete de más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5102351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774"/>
                </a:solidFill>
                <a:latin typeface="Calibri"/>
              </a:rPr>
              <a:t>No arregla la altura del cono. El pie del rectángulo se sigue necesitando.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5C38"/>
                </a:solidFill>
                <a:latin typeface="Calibri"/>
              </a:rPr>
              <a:t>PARA ESTA REUNIÓN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332"/>
                </a:solidFill>
                <a:latin typeface="Calibri"/>
              </a:rPr>
              <a:t>Qué revisar juntos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105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774"/>
                </a:solidFill>
                <a:latin typeface="Calibri"/>
              </a:rPr>
              <a:t>15  /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4630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91440" cy="1463040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361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85C38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536192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2332"/>
                </a:solidFill>
                <a:latin typeface="Calibri"/>
              </a:rPr>
              <a:t>Medir el error de hoy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93392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>Confirmar qué lente está montado. Con la cuadrícula, leer el error en milímetros en los tres puntos de 550 mm y en los bordes.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11155680" cy="14630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971800"/>
            <a:ext cx="91440" cy="1463040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363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85C3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36392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2332"/>
                </a:solidFill>
                <a:latin typeface="Calibri"/>
              </a:rPr>
              <a:t>Decidir si se reactiva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93592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>Si ese error pasa de unos 1–2 cm, reactivar el commit, calibrar K y rehacer los nueve clics. La prueba es la cuadrícula en el piso, no solo el RMS del tablero.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72000"/>
            <a:ext cx="11155680" cy="14630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572000"/>
            <a:ext cx="91440" cy="1463040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7365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85C38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736592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2332"/>
                </a:solidFill>
                <a:latin typeface="Calibri"/>
              </a:rPr>
              <a:t>Si el tiempo no alcanza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193792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774"/>
                </a:solidFill>
                <a:latin typeface="Calibri"/>
              </a:rPr>
              <a:t>Fundir el enderezado y la homografía en un solo mapa, para no pagar dos remuestreos por frame.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Cámara, hilos y vista de pájaro</dc:title>
  <dc:subject>WRO Future Engineers — revisión con maestros</dc:subject>
  <dc:creator>FoxRobotics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